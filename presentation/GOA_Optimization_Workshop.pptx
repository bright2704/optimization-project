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1: GOA: from swarm to measured evidence</a:t>
            </a:r>
          </a:p>
          <a:p>
            <a:r>
              <a:t>Allocated time: 60 seconds.</a:t>
            </a:r>
          </a:p>
          <a:p>
            <a:r>
              <a:t>Use presentation/script_th.md, section 1.</a:t>
            </a:r>
          </a:p>
          <a:p>
            <a:r>
              <a:t>All performance claims use results/workshop/summary.json.</a:t>
            </a:r>
          </a:p>
          <a:p>
            <a:r>
              <a:t>See docs/methodology.md for normalization and fair-budget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2: The GOA update rule</a:t>
            </a:r>
          </a:p>
          <a:p>
            <a:r>
              <a:t>Allocated time: 75 seconds.</a:t>
            </a:r>
          </a:p>
          <a:p>
            <a:r>
              <a:t>Use presentation/script_th.md, section 2.</a:t>
            </a:r>
          </a:p>
          <a:p>
            <a:r>
              <a:t>All performance claims use results/workshop/summary.json.</a:t>
            </a:r>
          </a:p>
          <a:p>
            <a:r>
              <a:t>See docs/methodology.md for normalization and fair-budget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3: Exploration → exploitation</a:t>
            </a:r>
          </a:p>
          <a:p>
            <a:r>
              <a:t>Allocated time: 65 seconds.</a:t>
            </a:r>
          </a:p>
          <a:p>
            <a:r>
              <a:t>Use presentation/script_th.md, section 3.</a:t>
            </a:r>
          </a:p>
          <a:p>
            <a:r>
              <a:t>All performance claims use results/workshop/summary.json.</a:t>
            </a:r>
          </a:p>
          <a:p>
            <a:r>
              <a:t>See docs/methodology.md for normalization and fair-budget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4: Where GOA can be applied</a:t>
            </a:r>
          </a:p>
          <a:p>
            <a:r>
              <a:t>Allocated time: 50 seconds.</a:t>
            </a:r>
          </a:p>
          <a:p>
            <a:r>
              <a:t>Use presentation/script_th.md, section 4.</a:t>
            </a:r>
          </a:p>
          <a:p>
            <a:r>
              <a:t>All performance claims use results/workshop/summary.json.</a:t>
            </a:r>
          </a:p>
          <a:p>
            <a:r>
              <a:t>See docs/methodology.md for normalization and fair-budget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5: A reproducible comparison</a:t>
            </a:r>
          </a:p>
          <a:p>
            <a:r>
              <a:t>Allocated time: 70 seconds.</a:t>
            </a:r>
          </a:p>
          <a:p>
            <a:r>
              <a:t>Use presentation/script_th.md, section 5.</a:t>
            </a:r>
          </a:p>
          <a:p>
            <a:r>
              <a:t>All performance claims use results/workshop/summary.json.</a:t>
            </a:r>
          </a:p>
          <a:p>
            <a:r>
              <a:t>See docs/methodology.md for normalization and fair-budget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6: Sphere: a smooth bowl</a:t>
            </a:r>
          </a:p>
          <a:p>
            <a:r>
              <a:t>Allocated time: 75 seconds.</a:t>
            </a:r>
          </a:p>
          <a:p>
            <a:r>
              <a:t>Use presentation/script_th.md, section 6.</a:t>
            </a:r>
          </a:p>
          <a:p>
            <a:r>
              <a:t>All performance claims use results/workshop/summary.json.</a:t>
            </a:r>
          </a:p>
          <a:p>
            <a:r>
              <a:t>See docs/methodology.md for normalization and fair-budget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7: Rosenbrock: a narrow curved valley</a:t>
            </a:r>
          </a:p>
          <a:p>
            <a:r>
              <a:t>Allocated time: 90 seconds.</a:t>
            </a:r>
          </a:p>
          <a:p>
            <a:r>
              <a:t>Use presentation/script_th.md, section 7.</a:t>
            </a:r>
          </a:p>
          <a:p>
            <a:r>
              <a:t>All performance claims use results/workshop/summary.json.</a:t>
            </a:r>
          </a:p>
          <a:p>
            <a:r>
              <a:t>See docs/methodology.md for normalization and fair-budget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8: Mean convergence and optimality gap</a:t>
            </a:r>
          </a:p>
          <a:p>
            <a:r>
              <a:t>Allocated time: 70 seconds.</a:t>
            </a:r>
          </a:p>
          <a:p>
            <a:r>
              <a:t>Use presentation/script_th.md, section 8.</a:t>
            </a:r>
          </a:p>
          <a:p>
            <a:r>
              <a:t>All performance claims use results/workshop/summary.json.</a:t>
            </a:r>
          </a:p>
          <a:p>
            <a:r>
              <a:t>See docs/methodology.md for normalization and fair-budget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9: Typical performance and run variability</a:t>
            </a:r>
          </a:p>
          <a:p>
            <a:r>
              <a:t>Allocated time: 70 seconds.</a:t>
            </a:r>
          </a:p>
          <a:p>
            <a:r>
              <a:t>Use presentation/script_th.md, section 9.</a:t>
            </a:r>
          </a:p>
          <a:p>
            <a:r>
              <a:t>All performance claims use results/workshop/summary.json.</a:t>
            </a:r>
          </a:p>
          <a:p>
            <a:r>
              <a:t>See docs/methodology.md for normalization and fair-budget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10: What the 180 runs show</a:t>
            </a:r>
          </a:p>
          <a:p>
            <a:r>
              <a:t>Allocated time: 50 seconds.</a:t>
            </a:r>
          </a:p>
          <a:p>
            <a:r>
              <a:t>Use presentation/script_th.md, section 10.</a:t>
            </a:r>
          </a:p>
          <a:p>
            <a:r>
              <a:t>All performance claims use results/workshop/summary.json.</a:t>
            </a:r>
          </a:p>
          <a:p>
            <a:r>
              <a:t>See docs/methodology.md for normalization and fair-budget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11: Limits and conclusions</a:t>
            </a:r>
          </a:p>
          <a:p>
            <a:r>
              <a:t>Allocated time: 35 seconds.</a:t>
            </a:r>
          </a:p>
          <a:p>
            <a:r>
              <a:t>Use presentation/script_th.md, section 11.</a:t>
            </a:r>
          </a:p>
          <a:p>
            <a:r>
              <a:t>All performance claims use results/workshop/summary.json.</a:t>
            </a:r>
          </a:p>
          <a:p>
            <a:r>
              <a:t>See docs/methodology.md for normalization and fair-budget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12: References &amp; reproducibility</a:t>
            </a:r>
          </a:p>
          <a:p>
            <a:r>
              <a:t>Allocated time: 10 seconds.</a:t>
            </a:r>
          </a:p>
          <a:p>
            <a:r>
              <a:t>Use presentation/script_th.md, section 12.</a:t>
            </a:r>
          </a:p>
          <a:p>
            <a:r>
              <a:t>All performance claims use results/workshop/summary.json.</a:t>
            </a:r>
          </a:p>
          <a:p>
            <a:r>
              <a:t>See docs/methodology.md for normalization and fair-budget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../results/workshop/animations/sphere_goa.mp4" TargetMode="Externa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../results/workshop/animations/rosenbrock_goa.mp4" TargetMode="Externa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064240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3400" b="1">
                <a:solidFill>
                  <a:srgbClr val="152B46"/>
                </a:solidFill>
                <a:latin typeface="IBM Plex Sans Thai"/>
              </a:defRPr>
            </a:pPr>
            <a:r>
              <a:t>GOA: from swarm to measured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83096"/>
            <a:ext cx="914400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536477"/>
                </a:solidFill>
                <a:latin typeface="IBM Plex Sans Thai"/>
              </a:defRPr>
            </a:pPr>
            <a:r>
              <a:t>Optimization Workshop · Aj. Eckart  |  01/12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64808"/>
            <a:ext cx="64008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536477"/>
                </a:solidFill>
                <a:latin typeface="IBM Plex Sans Thai"/>
              </a:defRPr>
            </a:pPr>
            <a:r>
              <a:t>60 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607040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3600" b="1">
                <a:solidFill>
                  <a:srgbClr val="087E8B"/>
                </a:solidFill>
                <a:latin typeface="IBM Plex Sans Thai"/>
              </a:defRPr>
            </a:pPr>
            <a:r>
              <a:t>Grasshopper Optimisation Algorithm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286000"/>
            <a:ext cx="10698480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600" b="0">
                <a:solidFill>
                  <a:srgbClr val="20354B"/>
                </a:solidFill>
                <a:latin typeface="IBM Plex Sans Thai"/>
              </a:defRPr>
            </a:pPr>
            <a:r>
              <a:t>ทฤษฎี • ภาพการเคลื่อนที่ • ผลทดลองที่ทำซ้ำได้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246120"/>
            <a:ext cx="10789920" cy="20574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700" b="0">
                <a:solidFill>
                  <a:srgbClr val="20354B"/>
                </a:solidFill>
                <a:latin typeface="IBM Plex Sans Thai"/>
              </a:defRPr>
            </a:pPr>
            <a:r>
              <a:t>Can social interactions find a good minimum?</a:t>
            </a:r>
          </a:p>
          <a:p>
            <a:pPr>
              <a:spcAft>
                <a:spcPts val="900"/>
              </a:spcAft>
              <a:defRPr sz="2700" b="0">
                <a:solidFill>
                  <a:srgbClr val="20354B"/>
                </a:solidFill>
                <a:latin typeface="IBM Plex Sans Thai"/>
              </a:defRPr>
            </a:pPr>
            <a:r>
              <a:t>Compare GOA with real-number GA and parallel RLS.</a:t>
            </a:r>
          </a:p>
          <a:p>
            <a:pPr>
              <a:spcAft>
                <a:spcPts val="900"/>
              </a:spcAft>
              <a:defRPr sz="2700" b="0">
                <a:solidFill>
                  <a:srgbClr val="20354B"/>
                </a:solidFill>
                <a:latin typeface="IBM Plex Sans Thai"/>
              </a:defRPr>
            </a:pPr>
            <a:r>
              <a:t>Two functions · 180 independent measured runs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5577840"/>
            <a:ext cx="10835640" cy="502920"/>
          </a:xfrm>
          <a:prstGeom prst="rect">
            <a:avLst/>
          </a:prstGeom>
          <a:solidFill>
            <a:srgbClr val="15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641848"/>
            <a:ext cx="1024128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FFFFFF"/>
                </a:solidFill>
                <a:latin typeface="IBM Plex Sans Thai"/>
              </a:defRPr>
            </a:pPr>
            <a:r>
              <a:t>12-minute talk  |  2D visualization  |  All raw runs retained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064240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3400" b="1">
                <a:solidFill>
                  <a:srgbClr val="152B46"/>
                </a:solidFill>
                <a:latin typeface="IBM Plex Sans Thai"/>
              </a:defRPr>
            </a:pPr>
            <a:r>
              <a:t>The GOA update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83096"/>
            <a:ext cx="914400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536477"/>
                </a:solidFill>
                <a:latin typeface="IBM Plex Sans Thai"/>
              </a:defRPr>
            </a:pPr>
            <a:r>
              <a:t>Optimization Workshop · Aj. Eckart  |  02/12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64808"/>
            <a:ext cx="64008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536477"/>
                </a:solidFill>
                <a:latin typeface="IBM Plex Sans Thai"/>
              </a:defRPr>
            </a:pPr>
            <a:r>
              <a:t>75 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07592"/>
            <a:ext cx="502920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500" b="1">
                <a:solidFill>
                  <a:srgbClr val="087E8B"/>
                </a:solidFill>
                <a:latin typeface="IBM Plex Sans Thai"/>
              </a:defRPr>
            </a:pPr>
            <a:r>
              <a:t>Social interaction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83664"/>
            <a:ext cx="10789920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900" b="0">
                <a:solidFill>
                  <a:srgbClr val="20354B"/>
                </a:solidFill>
                <a:latin typeface="IBM Plex Sans Thai"/>
              </a:defRPr>
            </a:pPr>
            <a:r>
              <a:t>s(r) = 0.5 exp(−r/1.5) − exp(−r)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743200"/>
            <a:ext cx="10835640" cy="10241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500" b="1">
                <a:solidFill>
                  <a:srgbClr val="152B46"/>
                </a:solidFill>
                <a:latin typeface="IBM Plex Sans Thai"/>
              </a:defRPr>
            </a:pPr>
            <a:r>
              <a:t>xᵢᵈ(t) = Tᵈ(t−1) + cₜ Σⱼ≠ᵢ [ cₜ (ubᵈ−lbᵈ)/2 · s(rᵢⱼᵈ) · uᵢⱼᵈ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977639"/>
            <a:ext cx="1078992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700" b="0">
                <a:solidFill>
                  <a:srgbClr val="20354B"/>
                </a:solidFill>
                <a:latin typeface="IBM Plex Sans Thai"/>
              </a:defRPr>
            </a:pPr>
            <a:r>
              <a:t>cₜ = 1 − t (1 − 10⁻⁵) / 100;   t = 1, …, 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864608"/>
            <a:ext cx="10789920" cy="10515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536477"/>
                </a:solidFill>
                <a:latin typeface="IBM Plex Sans Thai"/>
              </a:defRPr>
            </a:pPr>
            <a:r>
              <a:t>T = best-so-far archive; u = unit direction from i to j.</a:t>
            </a:r>
          </a:p>
          <a:p>
            <a:pPr>
              <a:spcAft>
                <a:spcPts val="900"/>
              </a:spcAft>
              <a:defRPr sz="2100" b="0">
                <a:solidFill>
                  <a:srgbClr val="536477"/>
                </a:solidFill>
                <a:latin typeface="IBM Plex Sans Thai"/>
              </a:defRPr>
            </a:pPr>
            <a:r>
              <a:t>Eq. 2.7/2.8 of Saremi et al. (2017), with a documented normalization choice.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064240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3400" b="1">
                <a:solidFill>
                  <a:srgbClr val="152B46"/>
                </a:solidFill>
                <a:latin typeface="IBM Plex Sans Thai"/>
              </a:defRPr>
            </a:pPr>
            <a:r>
              <a:t>Exploration → exploitation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83096"/>
            <a:ext cx="914400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536477"/>
                </a:solidFill>
                <a:latin typeface="IBM Plex Sans Thai"/>
              </a:defRPr>
            </a:pPr>
            <a:r>
              <a:t>Optimization Workshop · Aj. Eckart  |  03/12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64808"/>
            <a:ext cx="64008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536477"/>
                </a:solidFill>
                <a:latin typeface="IBM Plex Sans Thai"/>
              </a:defRPr>
            </a:pPr>
            <a:r>
              <a:t>65 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63040"/>
            <a:ext cx="5257800" cy="2880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691640"/>
            <a:ext cx="480060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087E8B"/>
                </a:solidFill>
                <a:latin typeface="IBM Plex Sans Thai"/>
              </a:defRPr>
            </a:pPr>
            <a:r>
              <a:t>Early: explore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514600"/>
            <a:ext cx="4800600" cy="1645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400" b="0">
                <a:solidFill>
                  <a:srgbClr val="20354B"/>
                </a:solidFill>
                <a:latin typeface="IBM Plex Sans Thai"/>
              </a:defRPr>
            </a:pPr>
            <a:r>
              <a:t>Higher c → stronger interactions</a:t>
            </a:r>
          </a:p>
          <a:p>
            <a:pPr>
              <a:spcAft>
                <a:spcPts val="900"/>
              </a:spcAft>
              <a:defRPr sz="2400" b="0">
                <a:solidFill>
                  <a:srgbClr val="20354B"/>
                </a:solidFill>
                <a:latin typeface="IBM Plex Sans Thai"/>
              </a:defRPr>
            </a:pPr>
            <a:r>
              <a:t>Repulsion spreads nearby agents</a:t>
            </a:r>
          </a:p>
          <a:p>
            <a:pPr>
              <a:spcAft>
                <a:spcPts val="900"/>
              </a:spcAft>
              <a:defRPr sz="2400" b="0">
                <a:solidFill>
                  <a:srgbClr val="20354B"/>
                </a:solidFill>
                <a:latin typeface="IBM Plex Sans Thai"/>
              </a:defRPr>
            </a:pPr>
            <a:r>
              <a:t>Attraction links distant agents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463040"/>
            <a:ext cx="5257800" cy="2880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80060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D76A18"/>
                </a:solidFill>
                <a:latin typeface="IBM Plex Sans Thai"/>
              </a:defRPr>
            </a:pPr>
            <a:r>
              <a:t>Late: exploit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514600"/>
            <a:ext cx="4800600" cy="1645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400" b="0">
                <a:solidFill>
                  <a:srgbClr val="20354B"/>
                </a:solidFill>
                <a:latin typeface="IBM Plex Sans Thai"/>
              </a:defRPr>
            </a:pPr>
            <a:r>
              <a:t>Lower c → smaller movement</a:t>
            </a:r>
          </a:p>
          <a:p>
            <a:pPr>
              <a:spcAft>
                <a:spcPts val="900"/>
              </a:spcAft>
              <a:defRPr sz="2400" b="0">
                <a:solidFill>
                  <a:srgbClr val="20354B"/>
                </a:solidFill>
                <a:latin typeface="IBM Plex Sans Thai"/>
              </a:defRPr>
            </a:pPr>
            <a:r>
              <a:t>Search around the best archive</a:t>
            </a:r>
          </a:p>
          <a:p>
            <a:pPr>
              <a:spcAft>
                <a:spcPts val="900"/>
              </a:spcAft>
              <a:defRPr sz="2400" b="0">
                <a:solidFill>
                  <a:srgbClr val="20354B"/>
                </a:solidFill>
                <a:latin typeface="IBM Plex Sans Thai"/>
              </a:defRPr>
            </a:pPr>
            <a:r>
              <a:t>Clustering can still miss the optimum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645152"/>
            <a:ext cx="1078992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700" b="0">
                <a:solidFill>
                  <a:srgbClr val="20354B"/>
                </a:solidFill>
                <a:latin typeface="IBM Plex Sans Thai"/>
              </a:defRPr>
            </a:pPr>
            <a:r>
              <a:t>rᵢⱼᵈ = 1 + 3 |xⱼᵈ − xᵢᵈ| / (ubᵈ − lbᵈ) ∈ [1, 4]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440680"/>
            <a:ext cx="10789920" cy="7772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536477"/>
                </a:solidFill>
                <a:latin typeface="IBM Plex Sans Thai"/>
              </a:defRPr>
            </a:pPr>
            <a:r>
              <a:t>This coordinate/bound mapping is our explicit implementation choice.</a:t>
            </a:r>
          </a:p>
          <a:p>
            <a:pPr>
              <a:spcAft>
                <a:spcPts val="900"/>
              </a:spcAft>
              <a:defRPr sz="1900" b="0">
                <a:solidFill>
                  <a:srgbClr val="536477"/>
                </a:solidFill>
                <a:latin typeface="IBM Plex Sans Thai"/>
              </a:defRPr>
            </a:pPr>
            <a:r>
              <a:t>Synchronous updates · clip to bounds · both c factors retained · no claim of exact paper replication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064240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3400" b="1">
                <a:solidFill>
                  <a:srgbClr val="152B46"/>
                </a:solidFill>
                <a:latin typeface="IBM Plex Sans Thai"/>
              </a:defRPr>
            </a:pPr>
            <a:r>
              <a:t>Where GOA can be applied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83096"/>
            <a:ext cx="914400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536477"/>
                </a:solidFill>
                <a:latin typeface="IBM Plex Sans Thai"/>
              </a:defRPr>
            </a:pPr>
            <a:r>
              <a:t>Optimization Workshop · Aj. Eckart  |  04/12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64808"/>
            <a:ext cx="64008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536477"/>
                </a:solidFill>
                <a:latin typeface="IBM Plex Sans Thai"/>
              </a:defRPr>
            </a:pPr>
            <a:r>
              <a:t>50 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17320"/>
            <a:ext cx="10789920" cy="9144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087E8B"/>
                </a:solidFill>
                <a:latin typeface="IBM Plex Sans Thai"/>
              </a:defRPr>
            </a:pPr>
            <a:r>
              <a:t>Structural design: minimize weight subject to stress limits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606040"/>
            <a:ext cx="10789920" cy="19202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600" b="0">
                <a:solidFill>
                  <a:srgbClr val="20354B"/>
                </a:solidFill>
                <a:latin typeface="IBM Plex Sans Thai"/>
              </a:defRPr>
            </a:pPr>
            <a:r>
              <a:t>Design variables → cross-sectional areas</a:t>
            </a:r>
          </a:p>
          <a:p>
            <a:pPr>
              <a:spcAft>
                <a:spcPts val="900"/>
              </a:spcAft>
              <a:defRPr sz="2600" b="0">
                <a:solidFill>
                  <a:srgbClr val="20354B"/>
                </a:solidFill>
                <a:latin typeface="IBM Plex Sans Thai"/>
              </a:defRPr>
            </a:pPr>
            <a:r>
              <a:t>Objective → material / structural weight</a:t>
            </a:r>
          </a:p>
          <a:p>
            <a:pPr>
              <a:spcAft>
                <a:spcPts val="900"/>
              </a:spcAft>
              <a:defRPr sz="2600" b="0">
                <a:solidFill>
                  <a:srgbClr val="20354B"/>
                </a:solidFill>
                <a:latin typeface="IBM Plex Sans Thai"/>
              </a:defRPr>
            </a:pPr>
            <a:r>
              <a:t>Constraints → stress or deflection limits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800600"/>
            <a:ext cx="10789920" cy="11430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300" b="0">
                <a:solidFill>
                  <a:srgbClr val="536477"/>
                </a:solidFill>
                <a:latin typeface="IBM Plex Sans Thai"/>
              </a:defRPr>
            </a:pPr>
            <a:r>
              <a:t>The original paper studies truss and cantilever design.</a:t>
            </a:r>
          </a:p>
          <a:p>
            <a:pPr>
              <a:spcAft>
                <a:spcPts val="900"/>
              </a:spcAft>
              <a:defRPr sz="2300" b="0">
                <a:solidFill>
                  <a:srgbClr val="536477"/>
                </a:solidFill>
                <a:latin typeface="IBM Plex Sans Thai"/>
              </a:defRPr>
            </a:pPr>
            <a:r>
              <a:t>Our workshop tests are unconstrained mathematical functions;</a:t>
            </a:r>
          </a:p>
          <a:p>
            <a:pPr>
              <a:spcAft>
                <a:spcPts val="900"/>
              </a:spcAft>
              <a:defRPr sz="2300" b="0">
                <a:solidFill>
                  <a:srgbClr val="536477"/>
                </a:solidFill>
                <a:latin typeface="IBM Plex Sans Thai"/>
              </a:defRPr>
            </a:pPr>
            <a:r>
              <a:t>we do not claim new engineering results.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064240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3400" b="1">
                <a:solidFill>
                  <a:srgbClr val="152B46"/>
                </a:solidFill>
                <a:latin typeface="IBM Plex Sans Thai"/>
              </a:defRPr>
            </a:pPr>
            <a:r>
              <a:t>A reproducible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83096"/>
            <a:ext cx="914400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536477"/>
                </a:solidFill>
                <a:latin typeface="IBM Plex Sans Thai"/>
              </a:defRPr>
            </a:pPr>
            <a:r>
              <a:t>Optimization Workshop · Aj. Eckart  |  05/12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64808"/>
            <a:ext cx="64008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536477"/>
                </a:solidFill>
                <a:latin typeface="IBM Plex Sans Thai"/>
              </a:defRPr>
            </a:pPr>
            <a:r>
              <a:t>70 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17320"/>
            <a:ext cx="10835640" cy="6400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087E8B"/>
                </a:solidFill>
                <a:latin typeface="IBM Plex Sans Thai"/>
              </a:defRPr>
            </a:pPr>
            <a:r>
              <a:t>Sphere: [−5, 5]²          Rosenbrock: [−2, 2]²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31720"/>
            <a:ext cx="10835640" cy="24231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400" b="0">
                <a:solidFill>
                  <a:srgbClr val="20354B"/>
                </a:solidFill>
                <a:latin typeface="IBM Plex Sans Thai"/>
              </a:defRPr>
            </a:pPr>
            <a:r>
              <a:t>2 dimensions · 30 agents · 100 iterations · 30 runs per method</a:t>
            </a:r>
          </a:p>
          <a:p>
            <a:pPr>
              <a:spcAft>
                <a:spcPts val="900"/>
              </a:spcAft>
              <a:defRPr sz="2400" b="0">
                <a:solidFill>
                  <a:srgbClr val="20354B"/>
                </a:solidFill>
                <a:latin typeface="IBM Plex Sans Thai"/>
              </a:defRPr>
            </a:pPr>
            <a:r>
              <a:t>Seeds: 20260930 + 10000 × function index + run index</a:t>
            </a:r>
          </a:p>
          <a:p>
            <a:pPr>
              <a:spcAft>
                <a:spcPts val="900"/>
              </a:spcAft>
              <a:defRPr sz="2400" b="0">
                <a:solidFill>
                  <a:srgbClr val="20354B"/>
                </a:solidFill>
                <a:latin typeface="IBM Plex Sans Thai"/>
              </a:defRPr>
            </a:pPr>
            <a:r>
              <a:t>Same initial points for all three methods within a function/run</a:t>
            </a:r>
          </a:p>
          <a:p>
            <a:pPr>
              <a:spcAft>
                <a:spcPts val="900"/>
              </a:spcAft>
              <a:defRPr sz="2400" b="0">
                <a:solidFill>
                  <a:srgbClr val="20354B"/>
                </a:solidFill>
                <a:latin typeface="IBM Plex Sans Thai"/>
              </a:defRPr>
            </a:pPr>
            <a:r>
              <a:t>3,030 actual objective calls per run: 30 + 100 ×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029200"/>
            <a:ext cx="10835640" cy="10515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536477"/>
                </a:solidFill>
                <a:latin typeface="IBM Plex Sans Thai"/>
              </a:defRPr>
            </a:pPr>
            <a:r>
              <a:t>GA: pc = 0.8, pm = 0.1; mutation σ = 0.1 × bound width; no elitism</a:t>
            </a:r>
          </a:p>
          <a:p>
            <a:pPr>
              <a:spcAft>
                <a:spcPts val="900"/>
              </a:spcAft>
              <a:defRPr sz="2000" b="0">
                <a:solidFill>
                  <a:srgbClr val="536477"/>
                </a:solidFill>
                <a:latin typeface="IBM Plex Sans Thai"/>
              </a:defRPr>
            </a:pPr>
            <a:r>
              <a:t>RLS: Gaussian step σ = 0.3; accept only non-worse moves</a:t>
            </a:r>
          </a:p>
          <a:p>
            <a:pPr>
              <a:spcAft>
                <a:spcPts val="900"/>
              </a:spcAft>
              <a:defRPr sz="2000" b="0">
                <a:solidFill>
                  <a:srgbClr val="536477"/>
                </a:solidFill>
                <a:latin typeface="IBM Plex Sans Thai"/>
              </a:defRPr>
            </a:pPr>
            <a:r>
              <a:t>All methods archive best-so-far; time excludes graphics/export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064240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3400" b="1">
                <a:solidFill>
                  <a:srgbClr val="152B46"/>
                </a:solidFill>
                <a:latin typeface="IBM Plex Sans Thai"/>
              </a:defRPr>
            </a:pPr>
            <a:r>
              <a:t>Sphere: a smooth bowl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83096"/>
            <a:ext cx="914400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536477"/>
                </a:solidFill>
                <a:latin typeface="IBM Plex Sans Thai"/>
              </a:defRPr>
            </a:pPr>
            <a:r>
              <a:t>Optimization Workshop · Aj. Eckart  |  06/12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64808"/>
            <a:ext cx="64008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536477"/>
                </a:solidFill>
                <a:latin typeface="IBM Plex Sans Thai"/>
              </a:defRPr>
            </a:pPr>
            <a:r>
              <a:t>75 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61872"/>
            <a:ext cx="10789920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500" b="1">
                <a:solidFill>
                  <a:srgbClr val="087E8B"/>
                </a:solidFill>
                <a:latin typeface="IBM Plex Sans Thai"/>
              </a:defRPr>
            </a:pPr>
            <a:r>
              <a:t>f(x) = x₁² + x₂²; optimum (0, 0), f* = 0</a:t>
            </a:r>
          </a:p>
        </p:txBody>
      </p:sp>
      <p:pic>
        <p:nvPicPr>
          <p:cNvPr id="7" name="Picture 6" descr="sphere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477" y="1874519"/>
            <a:ext cx="10967421" cy="3520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513832"/>
            <a:ext cx="10881360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536477"/>
                </a:solidFill>
                <a:latin typeface="IBM Plex Sans Thai"/>
              </a:defRPr>
            </a:pPr>
            <a:r>
              <a:t>Single illustration · preselected seed 424242 · final best = 2.363e-08</a:t>
            </a:r>
          </a:p>
          <a:p>
            <a:pPr>
              <a:spcAft>
                <a:spcPts val="900"/>
              </a:spcAft>
              <a:defRPr sz="1800" b="0">
                <a:solidFill>
                  <a:srgbClr val="536477"/>
                </a:solidFill>
                <a:latin typeface="IBM Plex Sans Thai"/>
              </a:defRPr>
            </a:pPr>
            <a:r>
              <a:t>Green star = known optimum; orange diamond = archive; red points = current 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6190488"/>
            <a:ext cx="29718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D76A18"/>
                </a:solidFill>
                <a:latin typeface="IBM Plex Sans Thai"/>
              </a:defRPr>
            </a:pPr>
            <a:r>
              <a:rPr>
                <a:hlinkClick r:id="rId3"/>
              </a:rPr>
              <a:t>▶ Open GIF / MP4 (16.8 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064240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3400" b="1">
                <a:solidFill>
                  <a:srgbClr val="152B46"/>
                </a:solidFill>
                <a:latin typeface="IBM Plex Sans Thai"/>
              </a:defRPr>
            </a:pPr>
            <a:r>
              <a:t>Rosenbrock: a narrow curved valley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83096"/>
            <a:ext cx="914400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536477"/>
                </a:solidFill>
                <a:latin typeface="IBM Plex Sans Thai"/>
              </a:defRPr>
            </a:pPr>
            <a:r>
              <a:t>Optimization Workshop · Aj. Eckart  |  07/12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64808"/>
            <a:ext cx="64008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536477"/>
                </a:solidFill>
                <a:latin typeface="IBM Plex Sans Thai"/>
              </a:defRPr>
            </a:pPr>
            <a:r>
              <a:t>90 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61872"/>
            <a:ext cx="10789920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500" b="1">
                <a:solidFill>
                  <a:srgbClr val="087E8B"/>
                </a:solidFill>
                <a:latin typeface="IBM Plex Sans Thai"/>
              </a:defRPr>
            </a:pPr>
            <a:r>
              <a:t>f(x) = 100(x₂ − x₁²)² + (x₁ − 1)²; optimum (1, 1), f* = 0</a:t>
            </a:r>
          </a:p>
        </p:txBody>
      </p:sp>
      <p:pic>
        <p:nvPicPr>
          <p:cNvPr id="7" name="Picture 6" descr="rosenbrock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477" y="1874519"/>
            <a:ext cx="10967421" cy="3520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513832"/>
            <a:ext cx="10881360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536477"/>
                </a:solidFill>
                <a:latin typeface="IBM Plex Sans Thai"/>
              </a:defRPr>
            </a:pPr>
            <a:r>
              <a:t>Single illustration · preselected seed 424242 · final best = 1.131e-03</a:t>
            </a:r>
          </a:p>
          <a:p>
            <a:pPr>
              <a:spcAft>
                <a:spcPts val="900"/>
              </a:spcAft>
              <a:defRPr sz="1800" b="0">
                <a:solidFill>
                  <a:srgbClr val="536477"/>
                </a:solidFill>
                <a:latin typeface="IBM Plex Sans Thai"/>
              </a:defRPr>
            </a:pPr>
            <a:r>
              <a:t>Green star = known optimum; orange diamond = archive; red points = current 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6190488"/>
            <a:ext cx="29718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D76A18"/>
                </a:solidFill>
                <a:latin typeface="IBM Plex Sans Thai"/>
              </a:defRPr>
            </a:pPr>
            <a:r>
              <a:rPr>
                <a:hlinkClick r:id="rId3"/>
              </a:rPr>
              <a:t>▶ Open GIF / MP4 (16.8 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303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36477"/>
                </a:solidFill>
                <a:latin typeface="IBM Plex Sans Thai"/>
              </a:defRPr>
            </a:pPr>
            <a:r>
              <a:t>Contour: log10(1 + f)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064240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3400" b="1">
                <a:solidFill>
                  <a:srgbClr val="152B46"/>
                </a:solidFill>
                <a:latin typeface="IBM Plex Sans Thai"/>
              </a:defRPr>
            </a:pPr>
            <a:r>
              <a:t>Mean convergence and optimality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83096"/>
            <a:ext cx="914400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536477"/>
                </a:solidFill>
                <a:latin typeface="IBM Plex Sans Thai"/>
              </a:defRPr>
            </a:pPr>
            <a:r>
              <a:t>Optimization Workshop · Aj. Eckart  |  08/12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64808"/>
            <a:ext cx="64008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536477"/>
                </a:solidFill>
                <a:latin typeface="IBM Plex Sans Thai"/>
              </a:defRPr>
            </a:pPr>
            <a:r>
              <a:t>70 s</a:t>
            </a:r>
          </a:p>
        </p:txBody>
      </p:sp>
      <p:pic>
        <p:nvPicPr>
          <p:cNvPr id="6" name="Picture 5" descr="sphere_mean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67446"/>
            <a:ext cx="5532120" cy="4260266"/>
          </a:xfrm>
          <a:prstGeom prst="rect">
            <a:avLst/>
          </a:prstGeom>
        </p:spPr>
      </p:pic>
      <p:pic>
        <p:nvPicPr>
          <p:cNvPr id="7" name="Picture 6" descr="rosenbrock_gap_sl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367446"/>
            <a:ext cx="5532120" cy="426026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596128"/>
            <a:ext cx="10789920" cy="6400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536477"/>
                </a:solidFill>
                <a:latin typeface="IBM Plex Sans Thai"/>
              </a:defRPr>
            </a:pPr>
            <a:r>
              <a:t>Each line averages best-so-far over all 30 independent runs.</a:t>
            </a:r>
          </a:p>
          <a:p>
            <a:pPr>
              <a:spcAft>
                <a:spcPts val="900"/>
              </a:spcAft>
              <a:defRPr sz="2000" b="0">
                <a:solidFill>
                  <a:srgbClr val="536477"/>
                </a:solidFill>
                <a:latin typeface="IBM Plex Sans Thai"/>
              </a:defRPr>
            </a:pPr>
            <a:r>
              <a:t>Shading = ± sample SD. Gap = fitness here (f* = 0); log display floor = 10⁻¹⁶.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064240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3400" b="1">
                <a:solidFill>
                  <a:srgbClr val="152B46"/>
                </a:solidFill>
                <a:latin typeface="IBM Plex Sans Thai"/>
              </a:defRPr>
            </a:pPr>
            <a:r>
              <a:t>Typical performance and run variability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83096"/>
            <a:ext cx="914400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536477"/>
                </a:solidFill>
                <a:latin typeface="IBM Plex Sans Thai"/>
              </a:defRPr>
            </a:pPr>
            <a:r>
              <a:t>Optimization Workshop · Aj. Eckart  |  09/12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64808"/>
            <a:ext cx="64008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536477"/>
                </a:solidFill>
                <a:latin typeface="IBM Plex Sans Thai"/>
              </a:defRPr>
            </a:pPr>
            <a:r>
              <a:t>70 s</a:t>
            </a:r>
          </a:p>
        </p:txBody>
      </p:sp>
      <p:pic>
        <p:nvPicPr>
          <p:cNvPr id="6" name="Picture 5" descr="sphere_median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0866"/>
            <a:ext cx="5532120" cy="4253427"/>
          </a:xfrm>
          <a:prstGeom prst="rect">
            <a:avLst/>
          </a:prstGeom>
        </p:spPr>
      </p:pic>
      <p:pic>
        <p:nvPicPr>
          <p:cNvPr id="7" name="Picture 6" descr="rosenbrock_boxplot_sl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370866"/>
            <a:ext cx="5532120" cy="425342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596128"/>
            <a:ext cx="10789920" cy="6400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536477"/>
                </a:solidFill>
                <a:latin typeface="IBM Plex Sans Thai"/>
              </a:defRPr>
            </a:pPr>
            <a:r>
              <a:t>GOA has the lowest median on both functions in this setup.</a:t>
            </a:r>
          </a:p>
          <a:p>
            <a:pPr>
              <a:spcAft>
                <a:spcPts val="900"/>
              </a:spcAft>
              <a:defRPr sz="2100" b="0">
                <a:solidFill>
                  <a:srgbClr val="536477"/>
                </a:solidFill>
                <a:latin typeface="IBM Plex Sans Thai"/>
              </a:defRPr>
            </a:pPr>
            <a:r>
              <a:t>Rosenbrock: GOA’s long upper tail means some runs still stall.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064240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3400" b="1">
                <a:solidFill>
                  <a:srgbClr val="152B46"/>
                </a:solidFill>
                <a:latin typeface="IBM Plex Sans Thai"/>
              </a:defRPr>
            </a:pPr>
            <a:r>
              <a:t>What the 180 runs show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83096"/>
            <a:ext cx="914400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536477"/>
                </a:solidFill>
                <a:latin typeface="IBM Plex Sans Thai"/>
              </a:defRPr>
            </a:pPr>
            <a:r>
              <a:t>Optimization Workshop · Aj. Eckart  |  10/12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64808"/>
            <a:ext cx="64008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536477"/>
                </a:solidFill>
                <a:latin typeface="IBM Plex Sans Thai"/>
              </a:defRPr>
            </a:pPr>
            <a:r>
              <a:t>50 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25880"/>
            <a:ext cx="1078992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087E8B"/>
                </a:solidFill>
                <a:latin typeface="IBM Plex Sans Thai"/>
              </a:defRPr>
            </a:pPr>
            <a:r>
              <a:t>Final fitness ↓ · all 30 runs per method · lower is better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965960"/>
          <a:ext cx="1088136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423160"/>
                <a:gridCol w="1600200"/>
                <a:gridCol w="1508760"/>
                <a:gridCol w="1508760"/>
                <a:gridCol w="1554480"/>
              </a:tblGrid>
              <a:tr h="509451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IBM Plex Sans Thai"/>
                        </a:defRPr>
                      </a:pPr>
                      <a:r>
                        <a:t>Function / method</a:t>
                      </a:r>
                    </a:p>
                  </a:txBody>
                  <a:tcPr marL="73152" marR="73152" marT="45720" anchor="ctr">
                    <a:solidFill>
                      <a:srgbClr val="152B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IBM Plex Sans Thai"/>
                        </a:defRPr>
                      </a:pPr>
                      <a:r>
                        <a:t>Mean ± SD</a:t>
                      </a:r>
                    </a:p>
                  </a:txBody>
                  <a:tcPr marL="73152" marR="73152" marT="45720" anchor="ctr">
                    <a:solidFill>
                      <a:srgbClr val="152B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IBM Plex Sans Thai"/>
                        </a:defRPr>
                      </a:pPr>
                      <a:r>
                        <a:t>Median</a:t>
                      </a:r>
                    </a:p>
                  </a:txBody>
                  <a:tcPr marL="73152" marR="73152" marT="45720" anchor="ctr">
                    <a:solidFill>
                      <a:srgbClr val="152B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IBM Plex Sans Thai"/>
                        </a:defRPr>
                      </a:pPr>
                      <a:r>
                        <a:t>Best</a:t>
                      </a:r>
                    </a:p>
                  </a:txBody>
                  <a:tcPr marL="73152" marR="73152" marT="45720" anchor="ctr">
                    <a:solidFill>
                      <a:srgbClr val="152B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IBM Plex Sans Thai"/>
                        </a:defRPr>
                      </a:pPr>
                      <a:r>
                        <a:t>Worst</a:t>
                      </a:r>
                    </a:p>
                  </a:txBody>
                  <a:tcPr marL="73152" marR="73152" marT="45720" anchor="ctr">
                    <a:solidFill>
                      <a:srgbClr val="152B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IBM Plex Sans Thai"/>
                        </a:defRPr>
                      </a:pPr>
                      <a:r>
                        <a:t>Time (s)</a:t>
                      </a:r>
                    </a:p>
                  </a:txBody>
                  <a:tcPr marL="73152" marR="73152" marT="45720" anchor="ctr">
                    <a:solidFill>
                      <a:srgbClr val="152B46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0354B"/>
                          </a:solidFill>
                          <a:latin typeface="IBM Plex Sans Thai"/>
                        </a:defRPr>
                      </a:pPr>
                      <a:r>
                        <a:t>Sphere / GOA</a:t>
                      </a:r>
                    </a:p>
                  </a:txBody>
                  <a:tcPr marL="73152" marR="73152" marT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354B"/>
                          </a:solidFill>
                          <a:latin typeface="IBM Plex Sans Thai"/>
                        </a:defRPr>
                      </a:pPr>
                      <a:r>
                        <a:t>3.43e-08 ± 2.37e-08</a:t>
                      </a:r>
                    </a:p>
                  </a:txBody>
                  <a:tcPr marL="73152" marR="73152" marT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0354B"/>
                          </a:solidFill>
                          <a:latin typeface="IBM Plex Sans Thai"/>
                        </a:defRPr>
                      </a:pPr>
                      <a:r>
                        <a:t>3.54e-08</a:t>
                      </a:r>
                    </a:p>
                  </a:txBody>
                  <a:tcPr marL="73152" marR="73152" marT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0354B"/>
                          </a:solidFill>
                          <a:latin typeface="IBM Plex Sans Thai"/>
                        </a:defRPr>
                      </a:pPr>
                      <a:r>
                        <a:t>8.29e-11</a:t>
                      </a:r>
                    </a:p>
                  </a:txBody>
                  <a:tcPr marL="73152" marR="73152" marT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0354B"/>
                          </a:solidFill>
                          <a:latin typeface="IBM Plex Sans Thai"/>
                        </a:defRPr>
                      </a:pPr>
                      <a:r>
                        <a:t>9.56e-08</a:t>
                      </a:r>
                    </a:p>
                  </a:txBody>
                  <a:tcPr marL="73152" marR="73152" marT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0354B"/>
                          </a:solidFill>
                          <a:latin typeface="IBM Plex Sans Thai"/>
                        </a:defRPr>
                      </a:pPr>
                      <a:r>
                        <a:t>0.0161</a:t>
                      </a:r>
                    </a:p>
                  </a:txBody>
                  <a:tcPr marL="73152" marR="73152" marT="45720" anchor="ctr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0354B"/>
                          </a:solidFill>
                          <a:latin typeface="IBM Plex Sans Thai"/>
                        </a:defRPr>
                      </a:pPr>
                      <a:r>
                        <a:t>Sphere / GA</a:t>
                      </a:r>
                    </a:p>
                  </a:txBody>
                  <a:tcPr marL="73152" marR="73152" marT="45720" anchor="ctr">
                    <a:solidFill>
                      <a:srgbClr val="E9EF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354B"/>
                          </a:solidFill>
                          <a:latin typeface="IBM Plex Sans Thai"/>
                        </a:defRPr>
                      </a:pPr>
                      <a:r>
                        <a:t>7.70e-05 ± 1.26e-04</a:t>
                      </a:r>
                    </a:p>
                  </a:txBody>
                  <a:tcPr marL="73152" marR="73152" marT="45720" anchor="ctr">
                    <a:solidFill>
                      <a:srgbClr val="E9EF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0354B"/>
                          </a:solidFill>
                          <a:latin typeface="IBM Plex Sans Thai"/>
                        </a:defRPr>
                      </a:pPr>
                      <a:r>
                        <a:t>3.90e-05</a:t>
                      </a:r>
                    </a:p>
                  </a:txBody>
                  <a:tcPr marL="73152" marR="73152" marT="45720" anchor="ctr">
                    <a:solidFill>
                      <a:srgbClr val="E9EF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0354B"/>
                          </a:solidFill>
                          <a:latin typeface="IBM Plex Sans Thai"/>
                        </a:defRPr>
                      </a:pPr>
                      <a:r>
                        <a:t>6.57e-07</a:t>
                      </a:r>
                    </a:p>
                  </a:txBody>
                  <a:tcPr marL="73152" marR="73152" marT="45720" anchor="ctr">
                    <a:solidFill>
                      <a:srgbClr val="E9EF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0354B"/>
                          </a:solidFill>
                          <a:latin typeface="IBM Plex Sans Thai"/>
                        </a:defRPr>
                      </a:pPr>
                      <a:r>
                        <a:t>6.71e-04</a:t>
                      </a:r>
                    </a:p>
                  </a:txBody>
                  <a:tcPr marL="73152" marR="73152" marT="45720" anchor="ctr">
                    <a:solidFill>
                      <a:srgbClr val="E9EF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0354B"/>
                          </a:solidFill>
                          <a:latin typeface="IBM Plex Sans Thai"/>
                        </a:defRPr>
                      </a:pPr>
                      <a:r>
                        <a:t>0.0165</a:t>
                      </a:r>
                    </a:p>
                  </a:txBody>
                  <a:tcPr marL="73152" marR="73152" marT="45720" anchor="ctr">
                    <a:solidFill>
                      <a:srgbClr val="E9EFF4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0354B"/>
                          </a:solidFill>
                          <a:latin typeface="IBM Plex Sans Thai"/>
                        </a:defRPr>
                      </a:pPr>
                      <a:r>
                        <a:t>Sphere / RLS</a:t>
                      </a:r>
                    </a:p>
                  </a:txBody>
                  <a:tcPr marL="73152" marR="73152" marT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354B"/>
                          </a:solidFill>
                          <a:latin typeface="IBM Plex Sans Thai"/>
                        </a:defRPr>
                      </a:pPr>
                      <a:r>
                        <a:t>9.55e-05 ± 8.75e-05</a:t>
                      </a:r>
                    </a:p>
                  </a:txBody>
                  <a:tcPr marL="73152" marR="73152" marT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0354B"/>
                          </a:solidFill>
                          <a:latin typeface="IBM Plex Sans Thai"/>
                        </a:defRPr>
                      </a:pPr>
                      <a:r>
                        <a:t>5.92e-05</a:t>
                      </a:r>
                    </a:p>
                  </a:txBody>
                  <a:tcPr marL="73152" marR="73152" marT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0354B"/>
                          </a:solidFill>
                          <a:latin typeface="IBM Plex Sans Thai"/>
                        </a:defRPr>
                      </a:pPr>
                      <a:r>
                        <a:t>1.18e-06</a:t>
                      </a:r>
                    </a:p>
                  </a:txBody>
                  <a:tcPr marL="73152" marR="73152" marT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0354B"/>
                          </a:solidFill>
                          <a:latin typeface="IBM Plex Sans Thai"/>
                        </a:defRPr>
                      </a:pPr>
                      <a:r>
                        <a:t>2.97e-04</a:t>
                      </a:r>
                    </a:p>
                  </a:txBody>
                  <a:tcPr marL="73152" marR="73152" marT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0354B"/>
                          </a:solidFill>
                          <a:latin typeface="IBM Plex Sans Thai"/>
                        </a:defRPr>
                      </a:pPr>
                      <a:r>
                        <a:t>0.0094</a:t>
                      </a:r>
                    </a:p>
                  </a:txBody>
                  <a:tcPr marL="73152" marR="73152" marT="45720" anchor="ctr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0354B"/>
                          </a:solidFill>
                          <a:latin typeface="IBM Plex Sans Thai"/>
                        </a:defRPr>
                      </a:pPr>
                      <a:r>
                        <a:t>Rosenbrock / GOA</a:t>
                      </a:r>
                    </a:p>
                  </a:txBody>
                  <a:tcPr marL="73152" marR="73152" marT="45720" anchor="ctr">
                    <a:solidFill>
                      <a:srgbClr val="E9EF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354B"/>
                          </a:solidFill>
                          <a:latin typeface="IBM Plex Sans Thai"/>
                        </a:defRPr>
                      </a:pPr>
                      <a:r>
                        <a:t>2.04e-03 ± 8.24e-03</a:t>
                      </a:r>
                    </a:p>
                  </a:txBody>
                  <a:tcPr marL="73152" marR="73152" marT="45720" anchor="ctr">
                    <a:solidFill>
                      <a:srgbClr val="E9EF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0354B"/>
                          </a:solidFill>
                          <a:latin typeface="IBM Plex Sans Thai"/>
                        </a:defRPr>
                      </a:pPr>
                      <a:r>
                        <a:t>1.96e-04</a:t>
                      </a:r>
                    </a:p>
                  </a:txBody>
                  <a:tcPr marL="73152" marR="73152" marT="45720" anchor="ctr">
                    <a:solidFill>
                      <a:srgbClr val="E9EF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0354B"/>
                          </a:solidFill>
                          <a:latin typeface="IBM Plex Sans Thai"/>
                        </a:defRPr>
                      </a:pPr>
                      <a:r>
                        <a:t>2.66e-07</a:t>
                      </a:r>
                    </a:p>
                  </a:txBody>
                  <a:tcPr marL="73152" marR="73152" marT="45720" anchor="ctr">
                    <a:solidFill>
                      <a:srgbClr val="E9EF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0354B"/>
                          </a:solidFill>
                          <a:latin typeface="IBM Plex Sans Thai"/>
                        </a:defRPr>
                      </a:pPr>
                      <a:r>
                        <a:t>4.53e-02</a:t>
                      </a:r>
                    </a:p>
                  </a:txBody>
                  <a:tcPr marL="73152" marR="73152" marT="45720" anchor="ctr">
                    <a:solidFill>
                      <a:srgbClr val="E9EF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0354B"/>
                          </a:solidFill>
                          <a:latin typeface="IBM Plex Sans Thai"/>
                        </a:defRPr>
                      </a:pPr>
                      <a:r>
                        <a:t>0.0234</a:t>
                      </a:r>
                    </a:p>
                  </a:txBody>
                  <a:tcPr marL="73152" marR="73152" marT="45720" anchor="ctr">
                    <a:solidFill>
                      <a:srgbClr val="E9EFF4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0354B"/>
                          </a:solidFill>
                          <a:latin typeface="IBM Plex Sans Thai"/>
                        </a:defRPr>
                      </a:pPr>
                      <a:r>
                        <a:t>Rosenbrock / GA</a:t>
                      </a:r>
                    </a:p>
                  </a:txBody>
                  <a:tcPr marL="73152" marR="73152" marT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354B"/>
                          </a:solidFill>
                          <a:latin typeface="IBM Plex Sans Thai"/>
                        </a:defRPr>
                      </a:pPr>
                      <a:r>
                        <a:t>1.05e-01 ± 1.15e-01</a:t>
                      </a:r>
                    </a:p>
                  </a:txBody>
                  <a:tcPr marL="73152" marR="73152" marT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0354B"/>
                          </a:solidFill>
                          <a:latin typeface="IBM Plex Sans Thai"/>
                        </a:defRPr>
                      </a:pPr>
                      <a:r>
                        <a:t>6.00e-02</a:t>
                      </a:r>
                    </a:p>
                  </a:txBody>
                  <a:tcPr marL="73152" marR="73152" marT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0354B"/>
                          </a:solidFill>
                          <a:latin typeface="IBM Plex Sans Thai"/>
                        </a:defRPr>
                      </a:pPr>
                      <a:r>
                        <a:t>1.58e-04</a:t>
                      </a:r>
                    </a:p>
                  </a:txBody>
                  <a:tcPr marL="73152" marR="73152" marT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0354B"/>
                          </a:solidFill>
                          <a:latin typeface="IBM Plex Sans Thai"/>
                        </a:defRPr>
                      </a:pPr>
                      <a:r>
                        <a:t>4.40e-01</a:t>
                      </a:r>
                    </a:p>
                  </a:txBody>
                  <a:tcPr marL="73152" marR="73152" marT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0354B"/>
                          </a:solidFill>
                          <a:latin typeface="IBM Plex Sans Thai"/>
                        </a:defRPr>
                      </a:pPr>
                      <a:r>
                        <a:t>0.0240</a:t>
                      </a:r>
                    </a:p>
                  </a:txBody>
                  <a:tcPr marL="73152" marR="73152" marT="45720" anchor="ctr">
                    <a:solidFill>
                      <a:srgbClr val="FFFFFF"/>
                    </a:solidFill>
                  </a:tcPr>
                </a:tc>
              </a:tr>
              <a:tr h="509454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0354B"/>
                          </a:solidFill>
                          <a:latin typeface="IBM Plex Sans Thai"/>
                        </a:defRPr>
                      </a:pPr>
                      <a:r>
                        <a:t>Rosenbrock / RLS</a:t>
                      </a:r>
                    </a:p>
                  </a:txBody>
                  <a:tcPr marL="73152" marR="73152" marT="45720" anchor="ctr">
                    <a:solidFill>
                      <a:srgbClr val="E9EF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354B"/>
                          </a:solidFill>
                          <a:latin typeface="IBM Plex Sans Thai"/>
                        </a:defRPr>
                      </a:pPr>
                      <a:r>
                        <a:t>2.81e-03 ± 3.22e-03</a:t>
                      </a:r>
                    </a:p>
                  </a:txBody>
                  <a:tcPr marL="73152" marR="73152" marT="45720" anchor="ctr">
                    <a:solidFill>
                      <a:srgbClr val="E9EF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0354B"/>
                          </a:solidFill>
                          <a:latin typeface="IBM Plex Sans Thai"/>
                        </a:defRPr>
                      </a:pPr>
                      <a:r>
                        <a:t>1.53e-03</a:t>
                      </a:r>
                    </a:p>
                  </a:txBody>
                  <a:tcPr marL="73152" marR="73152" marT="45720" anchor="ctr">
                    <a:solidFill>
                      <a:srgbClr val="E9EF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0354B"/>
                          </a:solidFill>
                          <a:latin typeface="IBM Plex Sans Thai"/>
                        </a:defRPr>
                      </a:pPr>
                      <a:r>
                        <a:t>4.79e-05</a:t>
                      </a:r>
                    </a:p>
                  </a:txBody>
                  <a:tcPr marL="73152" marR="73152" marT="45720" anchor="ctr">
                    <a:solidFill>
                      <a:srgbClr val="E9EF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0354B"/>
                          </a:solidFill>
                          <a:latin typeface="IBM Plex Sans Thai"/>
                        </a:defRPr>
                      </a:pPr>
                      <a:r>
                        <a:t>1.10e-02</a:t>
                      </a:r>
                    </a:p>
                  </a:txBody>
                  <a:tcPr marL="73152" marR="73152" marT="45720" anchor="ctr">
                    <a:solidFill>
                      <a:srgbClr val="E9EF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0354B"/>
                          </a:solidFill>
                          <a:latin typeface="IBM Plex Sans Thai"/>
                        </a:defRPr>
                      </a:pPr>
                      <a:r>
                        <a:t>0.0161</a:t>
                      </a:r>
                    </a:p>
                  </a:txBody>
                  <a:tcPr marL="73152" marR="73152" marT="45720" anchor="ctr">
                    <a:solidFill>
                      <a:srgbClr val="E9EFF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5687568"/>
            <a:ext cx="1078992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536477"/>
                </a:solidFill>
                <a:latin typeface="IBM Plex Sans Thai"/>
              </a:defRPr>
            </a:pPr>
            <a:r>
              <a:t>Equal measured budgets: 3,030 calls/run. Time = mean search time on this machine.</a:t>
            </a:r>
          </a:p>
          <a:p>
            <a:pPr>
              <a:spcAft>
                <a:spcPts val="900"/>
              </a:spcAft>
              <a:defRPr sz="1800" b="0">
                <a:solidFill>
                  <a:srgbClr val="536477"/>
                </a:solidFill>
                <a:latin typeface="IBM Plex Sans Thai"/>
              </a:defRPr>
            </a:pPr>
            <a:r>
              <a:t>RLS is faster here; GOA has the lowest median, but Rosenbrock worst-case GOA &gt; RLS.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064240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3400" b="1">
                <a:solidFill>
                  <a:srgbClr val="152B46"/>
                </a:solidFill>
                <a:latin typeface="IBM Plex Sans Thai"/>
              </a:defRPr>
            </a:pPr>
            <a:r>
              <a:t>Limits and 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83096"/>
            <a:ext cx="914400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536477"/>
                </a:solidFill>
                <a:latin typeface="IBM Plex Sans Thai"/>
              </a:defRPr>
            </a:pPr>
            <a:r>
              <a:t>Optimization Workshop · Aj. Eckart  |  11/12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64808"/>
            <a:ext cx="64008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536477"/>
                </a:solidFill>
                <a:latin typeface="IBM Plex Sans Thai"/>
              </a:defRPr>
            </a:pPr>
            <a:r>
              <a:t>35 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17320"/>
            <a:ext cx="10789920" cy="6858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087E8B"/>
                </a:solidFill>
                <a:latin typeface="IBM Plex Sans Thai"/>
              </a:defRPr>
            </a:pPr>
            <a:r>
              <a:t>GOA performs well here; there is no universal winner.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514600"/>
            <a:ext cx="10789920" cy="23317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500" b="0">
                <a:solidFill>
                  <a:srgbClr val="20354B"/>
                </a:solidFill>
                <a:latin typeface="IBM Plex Sans Thai"/>
              </a:defRPr>
            </a:pPr>
            <a:r>
              <a:t>Only two smooth 2D functions; no real design constraints tested</a:t>
            </a:r>
          </a:p>
          <a:p>
            <a:pPr>
              <a:spcAft>
                <a:spcPts val="900"/>
              </a:spcAft>
              <a:defRPr sz="2500" b="0">
                <a:solidFill>
                  <a:srgbClr val="20354B"/>
                </a:solidFill>
                <a:latin typeface="IBM Plex Sans Thai"/>
              </a:defRPr>
            </a:pPr>
            <a:r>
              <a:t>Fixed parameters; no tuning study or significance claim</a:t>
            </a:r>
          </a:p>
          <a:p>
            <a:pPr>
              <a:spcAft>
                <a:spcPts val="900"/>
              </a:spcAft>
              <a:defRPr sz="2500" b="0">
                <a:solidFill>
                  <a:srgbClr val="20354B"/>
                </a:solidFill>
                <a:latin typeface="IBM Plex Sans Thai"/>
              </a:defRPr>
            </a:pPr>
            <a:r>
              <a:t>GOA interactions: O(T N² D); may stagnate near an imperfect target</a:t>
            </a:r>
          </a:p>
          <a:p>
            <a:pPr>
              <a:spcAft>
                <a:spcPts val="900"/>
              </a:spcAft>
              <a:defRPr sz="2500" b="0">
                <a:solidFill>
                  <a:srgbClr val="20354B"/>
                </a:solidFill>
                <a:latin typeface="IBM Plex Sans Thai"/>
              </a:defRPr>
            </a:pPr>
            <a:r>
              <a:t>Swarm clustering ≠ proof that the known optimum was found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212080"/>
            <a:ext cx="10789920" cy="10058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300" b="0">
                <a:solidFill>
                  <a:srgbClr val="536477"/>
                </a:solidFill>
                <a:latin typeface="IBM Plex Sans Thai"/>
              </a:defRPr>
            </a:pPr>
            <a:r>
              <a:t>Next: higher dimensions, multimodal functions, sensitivity studies,</a:t>
            </a:r>
          </a:p>
          <a:p>
            <a:pPr>
              <a:spcAft>
                <a:spcPts val="900"/>
              </a:spcAft>
              <a:defRPr sz="2300" b="0">
                <a:solidFill>
                  <a:srgbClr val="536477"/>
                </a:solidFill>
                <a:latin typeface="IBM Plex Sans Thai"/>
              </a:defRPr>
            </a:pPr>
            <a:r>
              <a:t>and constrained applications with explicit feasibility checks.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064240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3400" b="1">
                <a:solidFill>
                  <a:srgbClr val="152B46"/>
                </a:solidFill>
                <a:latin typeface="IBM Plex Sans Thai"/>
              </a:defRPr>
            </a:pPr>
            <a:r>
              <a:t>References &amp; reproducibility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83096"/>
            <a:ext cx="914400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536477"/>
                </a:solidFill>
                <a:latin typeface="IBM Plex Sans Thai"/>
              </a:defRPr>
            </a:pPr>
            <a:r>
              <a:t>Optimization Workshop · Aj. Eckart  |  12/12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64808"/>
            <a:ext cx="64008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536477"/>
                </a:solidFill>
                <a:latin typeface="IBM Plex Sans Thai"/>
              </a:defRPr>
            </a:pPr>
            <a:r>
              <a:t>10 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71600"/>
            <a:ext cx="10835640" cy="1508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300" b="0">
                <a:solidFill>
                  <a:srgbClr val="20354B"/>
                </a:solidFill>
                <a:latin typeface="IBM Plex Sans Thai"/>
              </a:defRPr>
            </a:pPr>
            <a:r>
              <a:t>Saremi, Mirjalili &amp; Lewis (2017). Grasshopper Optimisation Algorithm:</a:t>
            </a:r>
          </a:p>
          <a:p>
            <a:pPr>
              <a:spcAft>
                <a:spcPts val="900"/>
              </a:spcAft>
              <a:defRPr sz="2300" b="0">
                <a:solidFill>
                  <a:srgbClr val="20354B"/>
                </a:solidFill>
                <a:latin typeface="IBM Plex Sans Thai"/>
              </a:defRPr>
            </a:pPr>
            <a:r>
              <a:t>Theory and application. Advances in Engineering Software, 105, 30–47.</a:t>
            </a:r>
          </a:p>
          <a:p>
            <a:pPr>
              <a:spcAft>
                <a:spcPts val="900"/>
              </a:spcAft>
              <a:defRPr sz="2300" b="0">
                <a:solidFill>
                  <a:srgbClr val="20354B"/>
                </a:solidFill>
                <a:latin typeface="IBM Plex Sans Thai"/>
              </a:defRPr>
            </a:pPr>
            <a:r>
              <a:t>DOI: 10.1016/j.advengsoft.2017.01.004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246120"/>
            <a:ext cx="10835640" cy="1371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536477"/>
                </a:solidFill>
                <a:latin typeface="IBM Plex Sans Thai"/>
              </a:defRPr>
            </a:pPr>
            <a:r>
              <a:t>Course material supplied in repository: workshop_objective_function.pdf</a:t>
            </a:r>
          </a:p>
          <a:p>
            <a:pPr>
              <a:spcAft>
                <a:spcPts val="900"/>
              </a:spcAft>
              <a:defRPr sz="2100" b="0">
                <a:solidFill>
                  <a:srgbClr val="536477"/>
                </a:solidFill>
                <a:latin typeface="IBM Plex Sans Thai"/>
              </a:defRPr>
            </a:pPr>
            <a:r>
              <a:t>GA lecture: ScienceDirect/Algorithm_ws/l9-11.pdf</a:t>
            </a:r>
          </a:p>
          <a:p>
            <a:pPr>
              <a:spcAft>
                <a:spcPts val="900"/>
              </a:spcAft>
              <a:defRPr sz="2100" b="0">
                <a:solidFill>
                  <a:srgbClr val="536477"/>
                </a:solidFill>
                <a:latin typeface="IBM Plex Sans Thai"/>
              </a:defRPr>
            </a:pPr>
            <a:r>
              <a:t>Our RLS baseline: algorithms/core.py (parallel Gaussian local searches)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212080"/>
            <a:ext cx="10835640" cy="9144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087E8B"/>
                </a:solidFill>
                <a:latin typeface="IBM Plex Sans Thai"/>
              </a:defRPr>
            </a:pPr>
            <a:r>
              <a:t>Raw runs + config: results/workshop/  |  Method audit: docs/methodology.md</a:t>
            </a:r>
          </a:p>
          <a:p>
            <a:pPr>
              <a:spcAft>
                <a:spcPts val="900"/>
              </a:spcAft>
              <a:defRPr sz="2100" b="1">
                <a:solidFill>
                  <a:srgbClr val="087E8B"/>
                </a:solidFill>
                <a:latin typeface="IBM Plex Sans Thai"/>
              </a:defRPr>
            </a:pPr>
            <a:r>
              <a:t>Rebuild: python -m workshop all  |  Thai script + Q&amp;A: presentation/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GOA — Optimization Workshop / Aj. Eckart</dc:title>
  <dc:subject>Reproducible Sphere and Rosenbrock comparison with GA and RLS</dc:subject>
  <dc:creator>Optimization Workshop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